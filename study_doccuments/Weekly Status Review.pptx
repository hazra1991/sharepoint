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4"/>
  </p:sldMasterIdLst>
  <p:notesMasterIdLst>
    <p:notesMasterId r:id="rId8"/>
  </p:notesMasterIdLst>
  <p:sldIdLst>
    <p:sldId id="611" r:id="rId5"/>
    <p:sldId id="747" r:id="rId6"/>
    <p:sldId id="72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yan Jyoti Sharma" initials="NJS" lastIdx="1" clrIdx="0">
    <p:extLst>
      <p:ext uri="{19B8F6BF-5375-455C-9EA6-DF929625EA0E}">
        <p15:presenceInfo xmlns:p15="http://schemas.microsoft.com/office/powerpoint/2012/main" userId="S-1-5-21-266749940-1637964444-929701000-502276" providerId="AD"/>
      </p:ext>
    </p:extLst>
  </p:cmAuthor>
  <p:cmAuthor id="2" name="Anoop Kant Dixit" initials="AKD" lastIdx="1" clrIdx="1">
    <p:extLst>
      <p:ext uri="{19B8F6BF-5375-455C-9EA6-DF929625EA0E}">
        <p15:presenceInfo xmlns:p15="http://schemas.microsoft.com/office/powerpoint/2012/main" userId="S-1-5-21-266749940-1637964444-929701000-3529079" providerId="AD"/>
      </p:ext>
    </p:extLst>
  </p:cmAuthor>
  <p:cmAuthor id="3" name="Anu 03" initials="A0" lastIdx="1" clrIdx="2">
    <p:extLst>
      <p:ext uri="{19B8F6BF-5375-455C-9EA6-DF929625EA0E}">
        <p15:presenceInfo xmlns:p15="http://schemas.microsoft.com/office/powerpoint/2012/main" userId="S::Anu03@ad.infosys.com::d86429e3-e68f-4568-9c03-12757b98044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F04F46-02D8-4437-8B66-46D9799C4C1D}" type="datetimeFigureOut">
              <a:rPr lang="en-US" smtClean="0"/>
              <a:t>10/14/2022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290DB-5079-4BAE-AE14-D16F6A59AD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75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79953" y="6453396"/>
            <a:ext cx="379901" cy="308012"/>
          </a:xfrm>
          <a:prstGeom prst="rect">
            <a:avLst/>
          </a:prstGeom>
        </p:spPr>
        <p:txBody>
          <a:bodyPr/>
          <a:lstStyle>
            <a:lvl1pPr algn="r">
              <a:defRPr sz="1000">
                <a:solidFill>
                  <a:srgbClr val="88888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Calibri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1B68C8-3400-4079-A8CA-9F3DB989E44C}"/>
              </a:ext>
            </a:extLst>
          </p:cNvPr>
          <p:cNvSpPr/>
          <p:nvPr userDrawn="1"/>
        </p:nvSpPr>
        <p:spPr>
          <a:xfrm>
            <a:off x="10547157" y="196334"/>
            <a:ext cx="96212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WK22 ‘22</a:t>
            </a:r>
          </a:p>
        </p:txBody>
      </p:sp>
      <p:pic>
        <p:nvPicPr>
          <p:cNvPr id="4" name="Picture 17" descr="Picture 17">
            <a:extLst>
              <a:ext uri="{FF2B5EF4-FFF2-40B4-BE49-F238E27FC236}">
                <a16:creationId xmlns:a16="http://schemas.microsoft.com/office/drawing/2014/main" id="{FA6CA52D-3FCC-4689-A7E1-C8D9ED8763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291455" y="6351503"/>
            <a:ext cx="815499" cy="3741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64273802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0">
            <a:extLst>
              <a:ext uri="{FF2B5EF4-FFF2-40B4-BE49-F238E27FC236}">
                <a16:creationId xmlns:a16="http://schemas.microsoft.com/office/drawing/2014/main" id="{2912D6CE-4052-40A6-A040-3A050EF4D459}"/>
              </a:ext>
            </a:extLst>
          </p:cNvPr>
          <p:cNvSpPr/>
          <p:nvPr userDrawn="1"/>
        </p:nvSpPr>
        <p:spPr>
          <a:xfrm>
            <a:off x="12051245" y="2832016"/>
            <a:ext cx="138935" cy="1153909"/>
          </a:xfrm>
          <a:custGeom>
            <a:avLst/>
            <a:gdLst/>
            <a:ahLst/>
            <a:cxnLst/>
            <a:rect l="l" t="t" r="r" b="b"/>
            <a:pathLst>
              <a:path w="106045" h="880745">
                <a:moveTo>
                  <a:pt x="105956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56" y="0"/>
                </a:lnTo>
                <a:lnTo>
                  <a:pt x="105956" y="880262"/>
                </a:lnTo>
                <a:close/>
              </a:path>
            </a:pathLst>
          </a:custGeom>
          <a:solidFill>
            <a:srgbClr val="EE74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46B6E6DE-2382-4349-BE15-64C1465650A2}"/>
              </a:ext>
            </a:extLst>
          </p:cNvPr>
          <p:cNvSpPr/>
          <p:nvPr userDrawn="1"/>
        </p:nvSpPr>
        <p:spPr>
          <a:xfrm>
            <a:off x="1806" y="2832016"/>
            <a:ext cx="138935" cy="1153909"/>
          </a:xfrm>
          <a:custGeom>
            <a:avLst/>
            <a:gdLst/>
            <a:ahLst/>
            <a:cxnLst/>
            <a:rect l="l" t="t" r="r" b="b"/>
            <a:pathLst>
              <a:path w="106044" h="880745">
                <a:moveTo>
                  <a:pt x="105943" y="880262"/>
                </a:moveTo>
                <a:lnTo>
                  <a:pt x="0" y="880262"/>
                </a:lnTo>
                <a:lnTo>
                  <a:pt x="0" y="0"/>
                </a:lnTo>
                <a:lnTo>
                  <a:pt x="105943" y="0"/>
                </a:lnTo>
                <a:lnTo>
                  <a:pt x="105943" y="880262"/>
                </a:lnTo>
                <a:close/>
              </a:path>
            </a:pathLst>
          </a:custGeom>
          <a:solidFill>
            <a:srgbClr val="EE742B"/>
          </a:solidFill>
        </p:spPr>
        <p:txBody>
          <a:bodyPr wrap="square" lIns="0" tIns="0" rIns="0" bIns="0" rtlCol="0"/>
          <a:lstStyle/>
          <a:p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632251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transition spd="med"/>
  <p:hf hdr="0" ftr="0" dt="0"/>
  <p:txStyles>
    <p:titleStyle>
      <a:lvl1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none" spc="0" baseline="0">
          <a:ln>
            <a:noFill/>
          </a:ln>
          <a:solidFill>
            <a:srgbClr val="2670C3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457189" marR="0" indent="-457189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1045002" marR="0" indent="-435417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625559" marR="0" indent="-406390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2316422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–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926007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»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3535592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4145176" marR="0" indent="-487668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4754760" marR="0" indent="-487666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5364345" marR="0" indent="-487666" algn="l" defTabSz="609585" rtl="0" latinLnBrk="0">
        <a:lnSpc>
          <a:spcPct val="100000"/>
        </a:lnSpc>
        <a:spcBef>
          <a:spcPts val="933"/>
        </a:spcBef>
        <a:spcAft>
          <a:spcPts val="0"/>
        </a:spcAft>
        <a:buClrTx/>
        <a:buSzPct val="100000"/>
        <a:buFont typeface="Arial"/>
        <a:buChar char="•"/>
        <a:tabLst/>
        <a:defRPr sz="4267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609585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1219170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828754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2438339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3047924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3657509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4267093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4876678" algn="r" defTabSz="60958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7ADAF-9068-47E7-B4F9-6E379800F4F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81C6B5-1C70-4311-9A85-8B4537460D23}"/>
              </a:ext>
            </a:extLst>
          </p:cNvPr>
          <p:cNvSpPr txBox="1">
            <a:spLocks/>
          </p:cNvSpPr>
          <p:nvPr/>
        </p:nvSpPr>
        <p:spPr>
          <a:xfrm>
            <a:off x="316549" y="60696"/>
            <a:ext cx="11321269" cy="5405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Week 1 – Key highlights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85F90A-1C7B-4455-8904-9C5B29993E97}"/>
              </a:ext>
            </a:extLst>
          </p:cNvPr>
          <p:cNvCxnSpPr>
            <a:cxnSpLocks/>
          </p:cNvCxnSpPr>
          <p:nvPr/>
        </p:nvCxnSpPr>
        <p:spPr>
          <a:xfrm>
            <a:off x="182246" y="560202"/>
            <a:ext cx="117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294E6A6-A9D4-42B8-8773-BEDFE113E631}"/>
              </a:ext>
            </a:extLst>
          </p:cNvPr>
          <p:cNvSpPr/>
          <p:nvPr/>
        </p:nvSpPr>
        <p:spPr>
          <a:xfrm>
            <a:off x="79691" y="663802"/>
            <a:ext cx="11795760" cy="5943600"/>
          </a:xfrm>
          <a:prstGeom prst="rect">
            <a:avLst/>
          </a:prstGeom>
          <a:solidFill>
            <a:srgbClr val="FDEADA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66EBF4E4-6587-4AAD-AD4B-1B0C66E97CA0}"/>
              </a:ext>
            </a:extLst>
          </p:cNvPr>
          <p:cNvSpPr txBox="1"/>
          <p:nvPr/>
        </p:nvSpPr>
        <p:spPr>
          <a:xfrm>
            <a:off x="825507" y="610823"/>
            <a:ext cx="3358529" cy="465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81279" tIns="81279" rIns="81279" bIns="81279">
            <a:spAutoFit/>
          </a:bodyPr>
          <a:lstStyle/>
          <a:p>
            <a:pPr marL="0" marR="0" lvl="0" indent="0" algn="ctr" defTabSz="81275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EE74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EE742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Tracks</a:t>
            </a:r>
            <a:endParaRPr kumimoji="0" lang="en-US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794695C-6D5B-45D5-AC64-187EA72EE432}"/>
              </a:ext>
            </a:extLst>
          </p:cNvPr>
          <p:cNvSpPr/>
          <p:nvPr/>
        </p:nvSpPr>
        <p:spPr>
          <a:xfrm>
            <a:off x="2702103" y="899217"/>
            <a:ext cx="9273514" cy="2577186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171450" marR="0" lvl="0" indent="-17145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05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C4507-ECD3-4C5D-A858-3268228E908B}"/>
              </a:ext>
            </a:extLst>
          </p:cNvPr>
          <p:cNvSpPr/>
          <p:nvPr/>
        </p:nvSpPr>
        <p:spPr>
          <a:xfrm>
            <a:off x="235695" y="4624923"/>
            <a:ext cx="2014345" cy="650760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B2B Functional Testing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6F3E8-09B2-49E2-84AF-1F3CFBF8C4E3}"/>
              </a:ext>
            </a:extLst>
          </p:cNvPr>
          <p:cNvSpPr/>
          <p:nvPr/>
        </p:nvSpPr>
        <p:spPr>
          <a:xfrm>
            <a:off x="235695" y="2009857"/>
            <a:ext cx="2771456" cy="706885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CPE  Test Automation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086BC6A3-9738-4180-9D26-E44DFAF0F4C1}"/>
              </a:ext>
            </a:extLst>
          </p:cNvPr>
          <p:cNvSpPr txBox="1"/>
          <p:nvPr/>
        </p:nvSpPr>
        <p:spPr>
          <a:xfrm>
            <a:off x="3718371" y="610823"/>
            <a:ext cx="4231790" cy="36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81279" tIns="81279" rIns="81279" bIns="81279">
            <a:spAutoFit/>
          </a:bodyPr>
          <a:lstStyle/>
          <a:p>
            <a:pPr marL="0" marR="0" lvl="0" indent="0" algn="ctr" defTabSz="81275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EE74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E742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Key Highlights – Week 1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2F37A-51E1-40A1-857D-C591567403B6}"/>
              </a:ext>
            </a:extLst>
          </p:cNvPr>
          <p:cNvSpPr/>
          <p:nvPr/>
        </p:nvSpPr>
        <p:spPr>
          <a:xfrm>
            <a:off x="2708197" y="3421293"/>
            <a:ext cx="9210049" cy="3239068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171450" marR="0" lvl="0" indent="-17145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4314A43-C274-49F0-BC4A-894C14A1A104}"/>
              </a:ext>
            </a:extLst>
          </p:cNvPr>
          <p:cNvCxnSpPr>
            <a:cxnSpLocks/>
          </p:cNvCxnSpPr>
          <p:nvPr/>
        </p:nvCxnSpPr>
        <p:spPr>
          <a:xfrm>
            <a:off x="369060" y="3413391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433D38-2228-475E-BC48-CC8C75D81E26}"/>
              </a:ext>
            </a:extLst>
          </p:cNvPr>
          <p:cNvCxnSpPr>
            <a:cxnSpLocks/>
          </p:cNvCxnSpPr>
          <p:nvPr/>
        </p:nvCxnSpPr>
        <p:spPr>
          <a:xfrm>
            <a:off x="316549" y="6532078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E8AA3F-4325-4F4B-A45B-0DD160CC2CF9}"/>
              </a:ext>
            </a:extLst>
          </p:cNvPr>
          <p:cNvCxnSpPr>
            <a:cxnSpLocks/>
          </p:cNvCxnSpPr>
          <p:nvPr/>
        </p:nvCxnSpPr>
        <p:spPr>
          <a:xfrm>
            <a:off x="359163" y="895097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38C1BBE-7D2F-4CB4-85E9-8618C9D52125}"/>
              </a:ext>
            </a:extLst>
          </p:cNvPr>
          <p:cNvSpPr txBox="1"/>
          <p:nvPr/>
        </p:nvSpPr>
        <p:spPr>
          <a:xfrm>
            <a:off x="4621899" y="2009857"/>
            <a:ext cx="7296347" cy="1477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Worked on the automation tickets given by the clie</a:t>
            </a:r>
            <a:r>
              <a:rPr lang="en-US" dirty="0">
                <a:solidFill>
                  <a:srgbClr val="000000"/>
                </a:solidFill>
                <a:sym typeface="Calibri"/>
              </a:rPr>
              <a:t>nt</a:t>
            </a:r>
          </a:p>
          <a:p>
            <a:pPr marL="285750" marR="0" indent="-28575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Calibri"/>
              </a:rPr>
              <a:t>Peer review </a:t>
            </a: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rgbClr val="000000"/>
              </a:solidFill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9799731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7ADAF-9068-47E7-B4F9-6E379800F4F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781C6B5-1C70-4311-9A85-8B4537460D23}"/>
              </a:ext>
            </a:extLst>
          </p:cNvPr>
          <p:cNvSpPr txBox="1">
            <a:spLocks/>
          </p:cNvSpPr>
          <p:nvPr/>
        </p:nvSpPr>
        <p:spPr>
          <a:xfrm>
            <a:off x="316549" y="60696"/>
            <a:ext cx="11321269" cy="5405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Week22 – Key highlights (Contd.)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85F90A-1C7B-4455-8904-9C5B29993E97}"/>
              </a:ext>
            </a:extLst>
          </p:cNvPr>
          <p:cNvCxnSpPr>
            <a:cxnSpLocks/>
          </p:cNvCxnSpPr>
          <p:nvPr/>
        </p:nvCxnSpPr>
        <p:spPr>
          <a:xfrm>
            <a:off x="182246" y="621846"/>
            <a:ext cx="117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294E6A6-A9D4-42B8-8773-BEDFE113E631}"/>
              </a:ext>
            </a:extLst>
          </p:cNvPr>
          <p:cNvSpPr/>
          <p:nvPr/>
        </p:nvSpPr>
        <p:spPr>
          <a:xfrm>
            <a:off x="192504" y="998070"/>
            <a:ext cx="11725741" cy="5120640"/>
          </a:xfrm>
          <a:prstGeom prst="rect">
            <a:avLst/>
          </a:prstGeom>
          <a:solidFill>
            <a:srgbClr val="FDEADA"/>
          </a:solidFill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45718" tIns="45718" rIns="45718" bIns="45718" numCol="1" spcCol="38100" rtlCol="0" anchor="ctr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66EBF4E4-6587-4AAD-AD4B-1B0C66E97CA0}"/>
              </a:ext>
            </a:extLst>
          </p:cNvPr>
          <p:cNvSpPr txBox="1"/>
          <p:nvPr/>
        </p:nvSpPr>
        <p:spPr>
          <a:xfrm>
            <a:off x="825507" y="1083431"/>
            <a:ext cx="3358529" cy="4652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81279" tIns="81279" rIns="81279" bIns="81279">
            <a:spAutoFit/>
          </a:bodyPr>
          <a:lstStyle/>
          <a:p>
            <a:pPr marL="0" marR="0" lvl="0" indent="0" algn="ctr" defTabSz="81275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EE74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E742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Tracks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6C4507-ECD3-4C5D-A858-3268228E908B}"/>
              </a:ext>
            </a:extLst>
          </p:cNvPr>
          <p:cNvSpPr/>
          <p:nvPr/>
        </p:nvSpPr>
        <p:spPr>
          <a:xfrm>
            <a:off x="769950" y="1799529"/>
            <a:ext cx="2438210" cy="650760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Connectivity Automation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1F3DD0-4AC1-4D1D-9BD3-F33A1DA2E100}"/>
              </a:ext>
            </a:extLst>
          </p:cNvPr>
          <p:cNvSpPr/>
          <p:nvPr/>
        </p:nvSpPr>
        <p:spPr>
          <a:xfrm>
            <a:off x="769950" y="3416791"/>
            <a:ext cx="2438210" cy="650760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Interoperability Testing</a:t>
            </a:r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086BC6A3-9738-4180-9D26-E44DFAF0F4C1}"/>
              </a:ext>
            </a:extLst>
          </p:cNvPr>
          <p:cNvSpPr txBox="1"/>
          <p:nvPr/>
        </p:nvSpPr>
        <p:spPr>
          <a:xfrm>
            <a:off x="3718371" y="1083431"/>
            <a:ext cx="4231790" cy="36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81279" tIns="81279" rIns="81279" bIns="81279">
            <a:spAutoFit/>
          </a:bodyPr>
          <a:lstStyle/>
          <a:p>
            <a:pPr marL="0" marR="0" lvl="0" indent="0" algn="ctr" defTabSz="81275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EE742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rPr kumimoji="0" lang="en-US" sz="1300" b="1" i="0" u="none" strike="noStrike" kern="0" cap="none" spc="0" normalizeH="0" baseline="0" noProof="0" dirty="0">
                <a:ln>
                  <a:noFill/>
                </a:ln>
                <a:solidFill>
                  <a:srgbClr val="EE742B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Key Highlights – Week22</a:t>
            </a:r>
            <a:endParaRPr kumimoji="0" 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62F37A-51E1-40A1-857D-C591567403B6}"/>
              </a:ext>
            </a:extLst>
          </p:cNvPr>
          <p:cNvSpPr/>
          <p:nvPr/>
        </p:nvSpPr>
        <p:spPr>
          <a:xfrm>
            <a:off x="3321336" y="1694206"/>
            <a:ext cx="8394032" cy="891385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171450" indent="-171450" defTabSz="609585" hangingPunct="0">
              <a:buFont typeface="Arial" panose="020B0604020202020204" pitchFamily="34" charset="0"/>
              <a:buChar char="•"/>
              <a:defRPr/>
            </a:pPr>
            <a:endParaRPr lang="en-US" sz="1100" kern="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D8316D-904E-45ED-A348-DF934F22D2CF}"/>
              </a:ext>
            </a:extLst>
          </p:cNvPr>
          <p:cNvSpPr/>
          <p:nvPr/>
        </p:nvSpPr>
        <p:spPr>
          <a:xfrm>
            <a:off x="3321330" y="2698955"/>
            <a:ext cx="8530098" cy="1651888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171450" lvl="0" indent="-171450" defTabSz="609585" hangingPunct="0">
              <a:buFont typeface="Arial" panose="020B0604020202020204" pitchFamily="34" charset="0"/>
              <a:buChar char="•"/>
              <a:defRPr/>
            </a:pPr>
            <a:endParaRPr lang="en-US" sz="1100" kern="0" dirty="0"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D433D38-2228-475E-BC48-CC8C75D81E26}"/>
              </a:ext>
            </a:extLst>
          </p:cNvPr>
          <p:cNvCxnSpPr>
            <a:cxnSpLocks/>
          </p:cNvCxnSpPr>
          <p:nvPr/>
        </p:nvCxnSpPr>
        <p:spPr>
          <a:xfrm>
            <a:off x="359163" y="2678058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FE8AA3F-4325-4F4B-A45B-0DD160CC2CF9}"/>
              </a:ext>
            </a:extLst>
          </p:cNvPr>
          <p:cNvCxnSpPr>
            <a:cxnSpLocks/>
          </p:cNvCxnSpPr>
          <p:nvPr/>
        </p:nvCxnSpPr>
        <p:spPr>
          <a:xfrm>
            <a:off x="359163" y="1583459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1BCB25FE-3984-420B-B0A6-5D4E2C9222D0}"/>
              </a:ext>
            </a:extLst>
          </p:cNvPr>
          <p:cNvSpPr/>
          <p:nvPr/>
        </p:nvSpPr>
        <p:spPr>
          <a:xfrm>
            <a:off x="3319468" y="4405815"/>
            <a:ext cx="8531960" cy="1697281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171450" lvl="0" indent="-171450" defTabSz="609585" hangingPunct="0">
              <a:buFont typeface="Arial" panose="020B0604020202020204" pitchFamily="34" charset="0"/>
              <a:buChar char="•"/>
              <a:defRPr/>
            </a:pPr>
            <a:endParaRPr lang="en-US" sz="1100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7E63CB2-1A82-45B1-AE3E-656BF554B334}"/>
              </a:ext>
            </a:extLst>
          </p:cNvPr>
          <p:cNvSpPr/>
          <p:nvPr/>
        </p:nvSpPr>
        <p:spPr>
          <a:xfrm>
            <a:off x="768082" y="4919927"/>
            <a:ext cx="2438210" cy="650760"/>
          </a:xfrm>
          <a:prstGeom prst="rect">
            <a:avLst/>
          </a:prstGeom>
          <a:noFill/>
          <a:ln w="25400" cap="flat">
            <a:noFill/>
            <a:prstDash val="solid"/>
            <a:round/>
          </a:ln>
          <a:effectLst/>
          <a:sp3d/>
        </p:spPr>
        <p:txBody>
          <a:bodyPr rot="0" spcFirstLastPara="1" vertOverflow="overflow" horzOverflow="overflow" vert="horz" wrap="square" lIns="60959" tIns="60959" rIns="60959" bIns="60959" numCol="1" spcCol="38100" rtlCol="0" anchor="ctr">
            <a:noAutofit/>
          </a:bodyPr>
          <a:lstStyle/>
          <a:p>
            <a:pPr marL="0" marR="0" lvl="0" indent="0" algn="l" defTabSz="609585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Wi-Fi Stability Log Analysis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0065D7-01FC-48ED-86A1-005717EA42D8}"/>
              </a:ext>
            </a:extLst>
          </p:cNvPr>
          <p:cNvCxnSpPr>
            <a:cxnSpLocks/>
          </p:cNvCxnSpPr>
          <p:nvPr/>
        </p:nvCxnSpPr>
        <p:spPr>
          <a:xfrm>
            <a:off x="421429" y="4385615"/>
            <a:ext cx="11430000" cy="0"/>
          </a:xfrm>
          <a:prstGeom prst="line">
            <a:avLst/>
          </a:prstGeom>
          <a:noFill/>
          <a:ln w="6350" cap="flat">
            <a:solidFill>
              <a:schemeClr val="accent6">
                <a:lumMod val="75000"/>
              </a:schemeClr>
            </a:solidFill>
            <a:prstDash val="solid"/>
            <a:round/>
          </a:ln>
          <a:effectLst/>
          <a:sp3d/>
        </p:spPr>
      </p:cxnSp>
    </p:spTree>
    <p:extLst>
      <p:ext uri="{BB962C8B-B14F-4D97-AF65-F5344CB8AC3E}">
        <p14:creationId xmlns:p14="http://schemas.microsoft.com/office/powerpoint/2010/main" val="14586987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DB1BAA-61EB-4DCF-849D-1CD719F28B6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F7E25D6-63BE-4F0E-8C2A-674104FD545A}"/>
              </a:ext>
            </a:extLst>
          </p:cNvPr>
          <p:cNvSpPr txBox="1">
            <a:spLocks/>
          </p:cNvSpPr>
          <p:nvPr/>
        </p:nvSpPr>
        <p:spPr>
          <a:xfrm>
            <a:off x="316549" y="60696"/>
            <a:ext cx="11321269" cy="5405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>
                    <a:lumMod val="95000"/>
                    <a:lumOff val="5000"/>
                  </a:sysClr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Track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11A04D-672A-4B38-B114-F5726C48D0E9}"/>
              </a:ext>
            </a:extLst>
          </p:cNvPr>
          <p:cNvCxnSpPr>
            <a:cxnSpLocks/>
          </p:cNvCxnSpPr>
          <p:nvPr/>
        </p:nvCxnSpPr>
        <p:spPr>
          <a:xfrm>
            <a:off x="182246" y="666816"/>
            <a:ext cx="11736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EC4F25-B17F-4A91-B22C-E9430C2423D9}"/>
              </a:ext>
            </a:extLst>
          </p:cNvPr>
          <p:cNvSpPr txBox="1"/>
          <p:nvPr/>
        </p:nvSpPr>
        <p:spPr>
          <a:xfrm>
            <a:off x="873303" y="1309228"/>
            <a:ext cx="6455966" cy="2483283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96000" tIns="96000" rIns="0" bIns="0" numCol="1" spcCol="38100" rtlCol="0" anchor="t">
            <a:noAutofit/>
          </a:bodyPr>
          <a:lstStyle/>
          <a:p>
            <a:pPr marR="0" lvl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This </a:t>
            </a:r>
            <a:r>
              <a:rPr kumimoji="0" lang="en-IN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Week</a:t>
            </a: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:</a:t>
            </a:r>
            <a:endParaRPr kumimoji="0" lang="en-IN" sz="1333" b="1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R="0" lvl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  <a:p>
            <a:pPr marL="285750" marR="0" lvl="0" indent="-285750" algn="just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Completed </a:t>
            </a: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the 12 </a:t>
            </a: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Calibri"/>
              </a:rPr>
              <a:t>automation tests assigned 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  <a:sym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AE89A-6F77-4ECE-9923-3B1A2675532F}"/>
              </a:ext>
            </a:extLst>
          </p:cNvPr>
          <p:cNvSpPr txBox="1"/>
          <p:nvPr/>
        </p:nvSpPr>
        <p:spPr>
          <a:xfrm>
            <a:off x="873302" y="803736"/>
            <a:ext cx="9859689" cy="505493"/>
          </a:xfrm>
          <a:prstGeom prst="rect">
            <a:avLst/>
          </a:prstGeom>
          <a:solidFill>
            <a:srgbClr val="FB7929"/>
          </a:solidFill>
          <a:ln w="9525" cap="flat">
            <a:solidFill>
              <a:srgbClr val="FB7929"/>
            </a:solidFill>
            <a:miter lim="400000"/>
          </a:ln>
          <a:effectLst/>
          <a:sp3d/>
        </p:spPr>
        <p:txBody>
          <a:bodyPr rot="0" spcFirstLastPara="1" vertOverflow="overflow" horzOverflow="overflow" vert="horz" wrap="square" lIns="0" tIns="0" rIns="0" bIns="0" numCol="1" spcCol="38100" rtlCol="0" anchor="ctr">
            <a:no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273044" lvl="0" defTabSz="457189" eaLnBrk="1" hangingPunct="1">
              <a:defRPr sz="1200" b="1" kern="1200">
                <a:solidFill>
                  <a:prstClr val="white"/>
                </a:solidFill>
                <a:uLnTx/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364042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600" dirty="0">
                <a:sym typeface="Calibri"/>
              </a:rPr>
              <a:t>CPE Automation Framework Migration(Angular to React)</a:t>
            </a:r>
            <a:endParaRPr kumimoji="0" lang="en-GB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DE93DC-8343-4488-83D7-B0D86B721064}"/>
              </a:ext>
            </a:extLst>
          </p:cNvPr>
          <p:cNvSpPr txBox="1"/>
          <p:nvPr/>
        </p:nvSpPr>
        <p:spPr>
          <a:xfrm>
            <a:off x="7329270" y="1328679"/>
            <a:ext cx="3403722" cy="2463830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96000" tIns="96000" rIns="0" bIns="0" numCol="1" spcCol="38100" rtlCol="0" anchor="t">
            <a:noAutofit/>
          </a:bodyPr>
          <a:lstStyle/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Next Period:</a:t>
            </a:r>
          </a:p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333" b="1" u="sng" kern="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Yet to Plan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D92C27C-757E-408F-B4EE-A763CEE07B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5568128"/>
              </p:ext>
            </p:extLst>
          </p:nvPr>
        </p:nvGraphicFramePr>
        <p:xfrm>
          <a:off x="873302" y="6117240"/>
          <a:ext cx="9915882" cy="680064"/>
        </p:xfrm>
        <a:graphic>
          <a:graphicData uri="http://schemas.openxmlformats.org/drawingml/2006/table">
            <a:tbl>
              <a:tblPr/>
              <a:tblGrid>
                <a:gridCol w="691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39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5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59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3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74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57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4774"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Risk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/Issue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  <a:b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Logged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Impact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Mitigation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Owner</a:t>
                      </a: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tc>
                  <a:txBody>
                    <a:bodyPr/>
                    <a:lstStyle>
                      <a:lvl1pPr marL="0" marR="0" indent="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1pPr>
                      <a:lvl2pPr marL="342900" marR="0" indent="609585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2pPr>
                      <a:lvl3pPr marL="685800" marR="0" indent="1219170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3pPr>
                      <a:lvl4pPr marL="1028700" marR="0" indent="182875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4pPr>
                      <a:lvl5pPr marL="1371600" marR="0" indent="243833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5pPr>
                      <a:lvl6pPr marL="1714500" marR="0" indent="3047924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6pPr>
                      <a:lvl7pPr marL="2057400" marR="0" indent="3657509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7pPr>
                      <a:lvl8pPr marL="2400300" marR="0" indent="4267093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8pPr>
                      <a:lvl9pPr marL="2743200" marR="0" indent="4876678" algn="l" defTabSz="6858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350" b="0" i="0" u="none" strike="noStrike" kern="1200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Arial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RAG</a:t>
                      </a:r>
                      <a:endParaRPr kumimoji="0" lang="en-US" sz="1300" b="1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39000" marR="39000" marT="36000" marB="36000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E7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812"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NILL</a:t>
                      </a:r>
                    </a:p>
                  </a:txBody>
                  <a:tcPr marL="52000" marR="52000" marT="48000" marB="48000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52000" marR="52000" marT="48000" marB="48000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48963" marR="48963" marT="47611" marB="47611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en-US" sz="12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48963" marR="48963" marT="47611" marB="47611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altLang="en-US" sz="12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52000" marR="52000" marT="48000" marB="48000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52000" marR="52000" marT="48000" marB="48000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>
                      <a:lvl1pPr marL="0" marR="0" indent="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1pPr>
                      <a:lvl2pPr marL="0" marR="0" indent="609585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2pPr>
                      <a:lvl3pPr marL="0" marR="0" indent="1219170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3pPr>
                      <a:lvl4pPr marL="0" marR="0" indent="182875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4pPr>
                      <a:lvl5pPr marL="0" marR="0" indent="243833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5pPr>
                      <a:lvl6pPr marL="0" marR="0" indent="3047924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6pPr>
                      <a:lvl7pPr marL="0" marR="0" indent="3657509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7pPr>
                      <a:lvl8pPr marL="0" marR="0" indent="4267093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8pPr>
                      <a:lvl9pPr marL="0" marR="0" indent="4876678" algn="r" defTabSz="609585" rtl="0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600" b="0" i="0" u="none" strike="noStrike" cap="none" spc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uFillTx/>
                          <a:latin typeface="Calibri" panose="020F0502020204030204"/>
                          <a:sym typeface="Calibri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kern="12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NA</a:t>
                      </a:r>
                    </a:p>
                  </a:txBody>
                  <a:tcPr marL="52000" marR="52000" marT="48000" marB="48000" anchor="ctr" horzOverflow="overflow">
                    <a:lnL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366453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0807D7-001F-4A7B-B491-B416D0F287CE}"/>
              </a:ext>
            </a:extLst>
          </p:cNvPr>
          <p:cNvSpPr txBox="1"/>
          <p:nvPr/>
        </p:nvSpPr>
        <p:spPr>
          <a:xfrm>
            <a:off x="873302" y="3971287"/>
            <a:ext cx="5462897" cy="1911743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96000" tIns="96000" rIns="0" bIns="0" numCol="1" spcCol="38100" rtlCol="0" anchor="t">
            <a:noAutofit/>
          </a:bodyPr>
          <a:lstStyle/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New Defects raised in Jira:</a:t>
            </a:r>
            <a:r>
              <a:rPr kumimoji="0" lang="en-GB" sz="1333" b="1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 </a:t>
            </a:r>
            <a:r>
              <a:rPr kumimoji="0" lang="en-GB" sz="1333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NA</a:t>
            </a:r>
          </a:p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333" b="1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L="0" marR="0" lvl="0" indent="0" algn="l" defTabSz="60955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Reproduced Defects in Jira: </a:t>
            </a:r>
            <a:r>
              <a:rPr kumimoji="0" lang="en-GB" sz="1333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NA</a:t>
            </a:r>
            <a:endParaRPr lang="en-GB" sz="1400" dirty="0">
              <a:solidFill>
                <a:srgbClr val="000000"/>
              </a:solidFill>
              <a:latin typeface="Calibri"/>
              <a:cs typeface="Calibri"/>
              <a:sym typeface="Calibri"/>
            </a:endParaRPr>
          </a:p>
          <a:p>
            <a:pPr marL="0" marR="0" lvl="0" indent="0" algn="l" defTabSz="609555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7DD541-B461-42EC-B38C-3C63FB1FA84B}"/>
              </a:ext>
            </a:extLst>
          </p:cNvPr>
          <p:cNvSpPr txBox="1"/>
          <p:nvPr/>
        </p:nvSpPr>
        <p:spPr>
          <a:xfrm>
            <a:off x="7469947" y="3971287"/>
            <a:ext cx="3263044" cy="1121437"/>
          </a:xfrm>
          <a:prstGeom prst="rect">
            <a:avLst/>
          </a:prstGeom>
          <a:solidFill>
            <a:srgbClr val="FFFFFF">
              <a:lumMod val="95000"/>
            </a:srgbClr>
          </a:solidFill>
          <a:ln w="9525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96000" tIns="96000" rIns="0" bIns="0" numCol="1" spcCol="38100" rtlCol="0" anchor="t">
            <a:noAutofit/>
          </a:bodyPr>
          <a:lstStyle/>
          <a:p>
            <a:pPr marL="0" marR="0" lvl="0" indent="0" algn="l" defTabSz="6095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33" b="1" i="0" u="sng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Proposals :</a:t>
            </a:r>
            <a:r>
              <a:rPr kumimoji="0" lang="en-GB" sz="1333" b="1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 </a:t>
            </a:r>
            <a:r>
              <a:rPr kumimoji="0" lang="en-GB" sz="1333" i="0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Calibri"/>
              </a:rPr>
              <a:t>NA</a:t>
            </a:r>
          </a:p>
        </p:txBody>
      </p:sp>
    </p:spTree>
    <p:extLst>
      <p:ext uri="{BB962C8B-B14F-4D97-AF65-F5344CB8AC3E}">
        <p14:creationId xmlns:p14="http://schemas.microsoft.com/office/powerpoint/2010/main" val="1001897023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Infosys Template 1">
  <a:themeElements>
    <a:clrScheme name="Infosys Template 1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Infosys Template 1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Infosys Template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199DD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no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0E510C2FC4D248AFB5DF734D0BFD2D" ma:contentTypeVersion="13" ma:contentTypeDescription="Create a new document." ma:contentTypeScope="" ma:versionID="d2d830c13d19848d5a6413b019f0e840">
  <xsd:schema xmlns:xsd="http://www.w3.org/2001/XMLSchema" xmlns:xs="http://www.w3.org/2001/XMLSchema" xmlns:p="http://schemas.microsoft.com/office/2006/metadata/properties" xmlns:ns3="276df9e2-1cda-48bb-96c5-866876343e50" xmlns:ns4="44e3fdbd-ffb1-4cd8-830a-0ca2a2513160" targetNamespace="http://schemas.microsoft.com/office/2006/metadata/properties" ma:root="true" ma:fieldsID="ae07405cd73688628807d867e609fbb6" ns3:_="" ns4:_="">
    <xsd:import namespace="276df9e2-1cda-48bb-96c5-866876343e50"/>
    <xsd:import namespace="44e3fdbd-ffb1-4cd8-830a-0ca2a251316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6df9e2-1cda-48bb-96c5-866876343e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e3fdbd-ffb1-4cd8-830a-0ca2a25131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69D5352-008E-47FB-880A-F6D2883E5FA4}">
  <ds:schemaRefs>
    <ds:schemaRef ds:uri="http://schemas.microsoft.com/office/2006/metadata/properties"/>
    <ds:schemaRef ds:uri="http://www.w3.org/2000/xmln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6B4A06C-80A3-4BCF-BE00-0E707CDA1FB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76df9e2-1cda-48bb-96c5-866876343e50"/>
    <ds:schemaRef ds:uri="44e3fdbd-ffb1-4cd8-830a-0ca2a2513160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831B61-D550-4EE5-8902-15240DDF31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6578</TotalTime>
  <Words>112</Words>
  <Application>Microsoft Office PowerPoint</Application>
  <PresentationFormat>Widescreen</PresentationFormat>
  <Paragraphs>43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Wingdings</vt:lpstr>
      <vt:lpstr>Infosys Template 1</vt:lpstr>
      <vt:lpstr>PowerPoint Presentation</vt:lpstr>
      <vt:lpstr>PowerPoint Presentation</vt:lpstr>
      <vt:lpstr>PowerPoint Presentation</vt:lpstr>
    </vt:vector>
  </TitlesOfParts>
  <Company>Infosys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Operations Board Review | T&amp;I Testing</dc:title>
  <dc:creator>Infosys</dc:creator>
  <cp:lastModifiedBy>Abhishek Hazra</cp:lastModifiedBy>
  <cp:revision>1480</cp:revision>
  <dcterms:created xsi:type="dcterms:W3CDTF">2019-01-13T18:38:30Z</dcterms:created>
  <dcterms:modified xsi:type="dcterms:W3CDTF">2022-10-14T06:44:56Z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e4b3411-284d-4d31-bd4f-bc13ef7f1fd6_Enabled">
    <vt:lpwstr>True</vt:lpwstr>
  </property>
  <property fmtid="{D5CDD505-2E9C-101B-9397-08002B2CF9AE}" pid="3" name="MSIP_Label_be4b3411-284d-4d31-bd4f-bc13ef7f1fd6_SiteId">
    <vt:lpwstr>63ce7d59-2f3e-42cd-a8cc-be764cff5eb6</vt:lpwstr>
  </property>
  <property fmtid="{D5CDD505-2E9C-101B-9397-08002B2CF9AE}" pid="4" name="MSIP_Label_be4b3411-284d-4d31-bd4f-bc13ef7f1fd6_Owner">
    <vt:lpwstr>Shamnad_Pampoor@ad.infosys.com</vt:lpwstr>
  </property>
  <property fmtid="{D5CDD505-2E9C-101B-9397-08002B2CF9AE}" pid="5" name="MSIP_Label_be4b3411-284d-4d31-bd4f-bc13ef7f1fd6_SetDate">
    <vt:lpwstr>2019-01-17T15:14:43.3330404Z</vt:lpwstr>
  </property>
  <property fmtid="{D5CDD505-2E9C-101B-9397-08002B2CF9AE}" pid="6" name="MSIP_Label_be4b3411-284d-4d31-bd4f-bc13ef7f1fd6_Name">
    <vt:lpwstr>Internal</vt:lpwstr>
  </property>
  <property fmtid="{D5CDD505-2E9C-101B-9397-08002B2CF9AE}" pid="7" name="MSIP_Label_be4b3411-284d-4d31-bd4f-bc13ef7f1fd6_Application">
    <vt:lpwstr>Microsoft Azure Information Protection</vt:lpwstr>
  </property>
  <property fmtid="{D5CDD505-2E9C-101B-9397-08002B2CF9AE}" pid="8" name="MSIP_Label_be4b3411-284d-4d31-bd4f-bc13ef7f1fd6_Extended_MSFT_Method">
    <vt:lpwstr>Automatic</vt:lpwstr>
  </property>
  <property fmtid="{D5CDD505-2E9C-101B-9397-08002B2CF9AE}" pid="9" name="ContentTypeId">
    <vt:lpwstr>0x010100F50E510C2FC4D248AFB5DF734D0BFD2D</vt:lpwstr>
  </property>
  <property fmtid="{D5CDD505-2E9C-101B-9397-08002B2CF9AE}" pid="10" name="MSIP_Label_a0819fa7-4367-4500-ba88-dd630d977609_Enabled">
    <vt:lpwstr>true</vt:lpwstr>
  </property>
  <property fmtid="{D5CDD505-2E9C-101B-9397-08002B2CF9AE}" pid="11" name="MSIP_Label_a0819fa7-4367-4500-ba88-dd630d977609_SetDate">
    <vt:lpwstr>2021-11-12T16:12:59Z</vt:lpwstr>
  </property>
  <property fmtid="{D5CDD505-2E9C-101B-9397-08002B2CF9AE}" pid="12" name="MSIP_Label_a0819fa7-4367-4500-ba88-dd630d977609_Method">
    <vt:lpwstr>Standard</vt:lpwstr>
  </property>
  <property fmtid="{D5CDD505-2E9C-101B-9397-08002B2CF9AE}" pid="13" name="MSIP_Label_a0819fa7-4367-4500-ba88-dd630d977609_Name">
    <vt:lpwstr>a0819fa7-4367-4500-ba88-dd630d977609</vt:lpwstr>
  </property>
  <property fmtid="{D5CDD505-2E9C-101B-9397-08002B2CF9AE}" pid="14" name="MSIP_Label_a0819fa7-4367-4500-ba88-dd630d977609_SiteId">
    <vt:lpwstr>63ce7d59-2f3e-42cd-a8cc-be764cff5eb6</vt:lpwstr>
  </property>
  <property fmtid="{D5CDD505-2E9C-101B-9397-08002B2CF9AE}" pid="15" name="MSIP_Label_a0819fa7-4367-4500-ba88-dd630d977609_ContentBits">
    <vt:lpwstr>0</vt:lpwstr>
  </property>
</Properties>
</file>